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4" r:id="rId8"/>
    <p:sldId id="265" r:id="rId9"/>
    <p:sldId id="267" r:id="rId10"/>
    <p:sldId id="268" r:id="rId11"/>
    <p:sldId id="266" r:id="rId12"/>
    <p:sldId id="261" r:id="rId13"/>
    <p:sldId id="262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0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0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微软雅黑"/>
              </a:rPr>
              <a:t>智启未来，码动新春</a:t>
            </a:r>
            <a:endParaRPr sz="42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563EB"/>
                </a:solidFill>
                <a:latin typeface="微软雅黑"/>
              </a:rPr>
              <a:t>ConfigWatcher · AI 驱动的配置搜索工具</a:t>
            </a:r>
            <a:endParaRPr sz="2800" b="1">
              <a:solidFill>
                <a:srgbClr val="2563EB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646464"/>
                </a:solidFill>
                <a:latin typeface="微软雅黑"/>
              </a:rPr>
              <a:t>展示人：张宇鹏</a:t>
            </a:r>
            <a:endParaRPr sz="2200" b="0">
              <a:solidFill>
                <a:srgbClr val="646464"/>
              </a:solidFill>
              <a:latin typeface="微软雅黑"/>
            </a:endParaRPr>
          </a:p>
          <a:p>
            <a:pPr algn="ctr"/>
            <a:r>
              <a:rPr sz="2200" b="0">
                <a:solidFill>
                  <a:srgbClr val="646464"/>
                </a:solidFill>
                <a:latin typeface="微软雅黑"/>
              </a:rPr>
              <a:t>日期：2026 年 3 月</a:t>
            </a:r>
            <a:endParaRPr sz="2200" b="0">
              <a:solidFill>
                <a:srgbClr val="646464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微软雅黑"/>
              </a:rPr>
              <a:t>1. 项目速览（30 秒电梯演讲）</a:t>
            </a:r>
            <a:endParaRPr sz="30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405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2563EB"/>
                </a:solidFill>
                <a:latin typeface="微软雅黑"/>
              </a:rPr>
              <a:t>【核心问题】</a:t>
            </a:r>
            <a:endParaRPr sz="2200" b="1">
              <a:solidFill>
                <a:srgbClr val="2563EB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AOI 设备配置文件繁杂（INI/JSON/XML），工程师查找配置项耗时费力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23232"/>
                </a:solidFill>
                <a:latin typeface="微软雅黑"/>
                <a:sym typeface="+mn-ea"/>
              </a:rPr>
              <a:t>•</a:t>
            </a:r>
            <a:r>
              <a:rPr lang="en-US" sz="2000">
                <a:solidFill>
                  <a:srgbClr val="323232"/>
                </a:solidFill>
                <a:latin typeface="微软雅黑"/>
                <a:sym typeface="+mn-ea"/>
              </a:rPr>
              <a:t> </a:t>
            </a:r>
            <a:r>
              <a:rPr lang="zh-CN" sz="2000" b="0">
                <a:solidFill>
                  <a:srgbClr val="323232"/>
                </a:solidFill>
                <a:latin typeface="微软雅黑"/>
              </a:rPr>
              <a:t>对配置不熟悉，或者长时间未接触配置文件，可能造成遗忘，导致查找具体字段困难。</a:t>
            </a:r>
            <a:endParaRPr lang="zh-CN"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23232"/>
                </a:solidFill>
                <a:latin typeface="微软雅黑"/>
                <a:sym typeface="+mn-ea"/>
              </a:rPr>
              <a:t>•</a:t>
            </a:r>
            <a:r>
              <a:rPr lang="zh-CN" sz="2000" b="1">
                <a:solidFill>
                  <a:srgbClr val="323232"/>
                </a:solidFill>
                <a:latin typeface="微软雅黑"/>
              </a:rPr>
              <a:t> 非开发人员在调试问题时，对配置文件不熟悉，花费大量时间排查后，找到专业人员才定位到配置文件问题，做了无用功</a:t>
            </a:r>
            <a:endParaRPr lang="zh-CN" sz="2000" b="1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323232"/>
                </a:solidFill>
                <a:latin typeface="微软雅黑"/>
                <a:sym typeface="+mn-ea"/>
              </a:rPr>
              <a:t>•</a:t>
            </a:r>
            <a:r>
              <a:rPr lang="zh-CN" sz="2000" b="1">
                <a:solidFill>
                  <a:srgbClr val="323232"/>
                </a:solidFill>
                <a:latin typeface="微软雅黑"/>
              </a:rPr>
              <a:t> 配置文件应该受到管控，对于配置文件的修改应当有记录可查，不然可能在某个无人在意的角落有时会偷偷修改配置，导致出现问题后，其他不知情人员排查困难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2200" b="1">
                <a:solidFill>
                  <a:srgbClr val="2563EB"/>
                </a:solidFill>
                <a:latin typeface="微软雅黑"/>
              </a:rPr>
              <a:t>【AI 解决方案】</a:t>
            </a:r>
            <a:endParaRPr sz="2200" b="1">
              <a:solidFill>
                <a:srgbClr val="2563EB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基于意图识别和同义词扩展的智能配置搜索工具，让</a:t>
            </a:r>
            <a:r>
              <a:rPr lang="zh-CN" sz="2000" b="0">
                <a:solidFill>
                  <a:srgbClr val="323232"/>
                </a:solidFill>
                <a:latin typeface="微软雅黑"/>
              </a:rPr>
              <a:t>使用者</a:t>
            </a:r>
            <a:r>
              <a:rPr sz="2000" b="0">
                <a:solidFill>
                  <a:srgbClr val="323232"/>
                </a:solidFill>
                <a:latin typeface="微软雅黑"/>
              </a:rPr>
              <a:t>用自然语言快速定位配置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2200" b="1">
                <a:solidFill>
                  <a:srgbClr val="2563EB"/>
                </a:solidFill>
                <a:latin typeface="微软雅黑"/>
              </a:rPr>
              <a:t>【目标用户/场景】</a:t>
            </a:r>
            <a:endParaRPr sz="2200" b="1">
              <a:solidFill>
                <a:srgbClr val="2563EB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AOI 设备调试工程师、维护人员，需要在数百个配置项中快速定位参数</a:t>
            </a:r>
            <a:endParaRPr sz="2000" b="0">
              <a:solidFill>
                <a:srgbClr val="323232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微软雅黑"/>
              </a:rPr>
              <a:t>2. AI 如何解决 - 方法与创新</a:t>
            </a:r>
            <a:endParaRPr sz="30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687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2563EB"/>
                </a:solidFill>
                <a:latin typeface="微软雅黑"/>
              </a:rPr>
              <a:t>【AI 的角色与能力】</a:t>
            </a:r>
            <a:endParaRPr sz="2200" b="1">
              <a:solidFill>
                <a:srgbClr val="2563EB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🧠 意图识别：分析用户搜索词的真实意图（搜配置项/搜参数值/中文别名）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🔤 同义词扩展：内置 100+ 光学/相机/标定领域同义词映射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💡 智能建议：实时生成搜索建议，支持用户自定义词典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📚 技术栈：Qt/QML + SQLite FTS5 + 规则引擎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2200" b="1">
                <a:solidFill>
                  <a:srgbClr val="2563EB"/>
                </a:solidFill>
                <a:latin typeface="微软雅黑"/>
              </a:rPr>
              <a:t>【AI 解题流程】</a:t>
            </a:r>
            <a:endParaRPr sz="2200" b="1">
              <a:solidFill>
                <a:srgbClr val="2563EB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用户输入 → 意图分析 → 同义词扩展 → 数据库检索 → 排序展示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示例：输入"曝光"→ 识别为搜配置项 → 扩展 [exposure, 曝光时间，积分时间] → 检索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lang="zh-CN" sz="2000" b="0">
                <a:solidFill>
                  <a:srgbClr val="323232"/>
                </a:solidFill>
                <a:latin typeface="微软雅黑"/>
              </a:rPr>
              <a:t>其他内容：基于聚类将相同领域的字段分簇，提供联想功能，通过</a:t>
            </a:r>
            <a:r>
              <a:rPr lang="en-US" altLang="zh-CN" sz="2000" b="0">
                <a:solidFill>
                  <a:srgbClr val="323232"/>
                </a:solidFill>
                <a:latin typeface="微软雅黑"/>
              </a:rPr>
              <a:t>ctrl+r</a:t>
            </a:r>
            <a:r>
              <a:rPr lang="zh-CN" altLang="en-US" sz="2000" b="0">
                <a:solidFill>
                  <a:srgbClr val="323232"/>
                </a:solidFill>
                <a:latin typeface="微软雅黑"/>
              </a:rPr>
              <a:t>唤醒</a:t>
            </a:r>
            <a:endParaRPr lang="zh-CN" altLang="en-US" sz="2000" b="0">
              <a:solidFill>
                <a:srgbClr val="323232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微软雅黑"/>
              </a:rPr>
              <a:t>3. AI 带来的优势（对比与突破）</a:t>
            </a:r>
            <a:endParaRPr sz="2800" b="1">
              <a:solidFill>
                <a:srgbClr val="FFFFFF"/>
              </a:solidFill>
              <a:latin typeface="微软雅黑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11480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对比维度</a:t>
                      </a:r>
                      <a:endParaRPr sz="1800" b="1">
                        <a:solidFill>
                          <a:srgbClr val="FFFFFF"/>
                        </a:solidFill>
                        <a:latin typeface="微软雅黑"/>
                      </a:endParaRP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传统方法</a:t>
                      </a:r>
                      <a:endParaRPr sz="1800" b="1">
                        <a:solidFill>
                          <a:srgbClr val="FFFFFF"/>
                        </a:solidFill>
                        <a:latin typeface="微软雅黑"/>
                      </a:endParaRP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</a:rPr>
                        <a:t>AI 增强方案</a:t>
                      </a:r>
                      <a:endParaRPr sz="1800" b="1">
                        <a:solidFill>
                          <a:srgbClr val="FFFFFF"/>
                        </a:solidFill>
                        <a:latin typeface="微软雅黑"/>
                      </a:endParaRP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23232"/>
                          </a:solidFill>
                          <a:latin typeface="微软雅黑"/>
                        </a:rPr>
                        <a:t>搜索效率</a:t>
                      </a:r>
                      <a:endParaRPr sz="1600" b="0">
                        <a:solidFill>
                          <a:srgbClr val="323232"/>
                        </a:solidFill>
                        <a:latin typeface="微软雅黑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23232"/>
                          </a:solidFill>
                          <a:latin typeface="微软雅黑"/>
                        </a:rPr>
                        <a:t>手动翻阅配置文件，平均 2-5 分钟/项</a:t>
                      </a:r>
                      <a:endParaRPr sz="1600" b="0">
                        <a:solidFill>
                          <a:srgbClr val="323232"/>
                        </a:solidFill>
                        <a:latin typeface="微软雅黑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23232"/>
                          </a:solidFill>
                          <a:latin typeface="微软雅黑"/>
                        </a:rPr>
                        <a:t>AI 搜索 &lt;3 秒返回结果</a:t>
                      </a:r>
                      <a:endParaRPr sz="1600" b="0">
                        <a:solidFill>
                          <a:srgbClr val="323232"/>
                        </a:solidFill>
                        <a:latin typeface="微软雅黑"/>
                      </a:endParaRP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23232"/>
                          </a:solidFill>
                          <a:latin typeface="微软雅黑"/>
                        </a:rPr>
                        <a:t>准确率</a:t>
                      </a:r>
                      <a:endParaRPr sz="1600" b="0">
                        <a:solidFill>
                          <a:srgbClr val="323232"/>
                        </a:solidFill>
                        <a:latin typeface="微软雅黑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23232"/>
                          </a:solidFill>
                          <a:latin typeface="微软雅黑"/>
                        </a:rPr>
                        <a:t>关键词匹配，易漏检</a:t>
                      </a:r>
                      <a:endParaRPr sz="1600" b="0">
                        <a:solidFill>
                          <a:srgbClr val="323232"/>
                        </a:solidFill>
                        <a:latin typeface="微软雅黑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23232"/>
                          </a:solidFill>
                          <a:latin typeface="微软雅黑"/>
                        </a:rPr>
                        <a:t>意图识别 + 同义词扩展，召回率提升 60%+</a:t>
                      </a:r>
                      <a:endParaRPr sz="1600" b="0">
                        <a:solidFill>
                          <a:srgbClr val="323232"/>
                        </a:solidFill>
                        <a:latin typeface="微软雅黑"/>
                      </a:endParaRP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23232"/>
                          </a:solidFill>
                          <a:latin typeface="微软雅黑"/>
                        </a:rPr>
                        <a:t>用户体验</a:t>
                      </a:r>
                      <a:endParaRPr sz="1600" b="0">
                        <a:solidFill>
                          <a:srgbClr val="323232"/>
                        </a:solidFill>
                        <a:latin typeface="微软雅黑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23232"/>
                          </a:solidFill>
                          <a:latin typeface="微软雅黑"/>
                        </a:rPr>
                        <a:t>需要知道确切配置名</a:t>
                      </a:r>
                      <a:endParaRPr sz="1600" b="0">
                        <a:solidFill>
                          <a:srgbClr val="323232"/>
                        </a:solidFill>
                        <a:latin typeface="微软雅黑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323232"/>
                          </a:solidFill>
                          <a:latin typeface="微软雅黑"/>
                        </a:rPr>
                        <a:t>支持中文/英文/别名，自然语言搜索</a:t>
                      </a:r>
                      <a:endParaRPr sz="1600" b="0">
                        <a:solidFill>
                          <a:srgbClr val="323232"/>
                        </a:solidFill>
                        <a:latin typeface="微软雅黑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72800" cy="1511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563EB"/>
                </a:solidFill>
                <a:latin typeface="微软雅黑"/>
              </a:rPr>
              <a:t>【核心优势】</a:t>
            </a:r>
            <a:endParaRPr sz="2200" b="1">
              <a:solidFill>
                <a:srgbClr val="2563EB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323232"/>
                </a:solidFill>
                <a:latin typeface="微软雅黑"/>
              </a:rPr>
              <a:t>✓ 内置 100+ 领域同义词映射，覆盖相机/投影/标定/图像处理等核心参数</a:t>
            </a:r>
            <a:endParaRPr sz="19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323232"/>
                </a:solidFill>
                <a:latin typeface="微软雅黑"/>
              </a:rPr>
              <a:t>✓ 支持用户自定义词典，持续学习用户搜索习惯</a:t>
            </a:r>
            <a:endParaRPr sz="19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323232"/>
                </a:solidFill>
                <a:latin typeface="微软雅黑"/>
              </a:rPr>
              <a:t>✓ 精简模式</a:t>
            </a:r>
            <a:r>
              <a:rPr lang="en-US" sz="1900" b="0">
                <a:solidFill>
                  <a:srgbClr val="323232"/>
                </a:solidFill>
                <a:latin typeface="微软雅黑"/>
              </a:rPr>
              <a:t> </a:t>
            </a:r>
            <a:r>
              <a:rPr sz="1900" b="0">
                <a:solidFill>
                  <a:srgbClr val="323232"/>
                </a:solidFill>
                <a:latin typeface="微软雅黑"/>
              </a:rPr>
              <a:t>+ 全局快捷键 Ctrl+Alt+M，随叫随到</a:t>
            </a:r>
            <a:endParaRPr sz="1900" b="0">
              <a:solidFill>
                <a:srgbClr val="323232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微软雅黑"/>
              </a:rPr>
              <a:t>4. 成果验证</a:t>
            </a:r>
            <a:endParaRPr sz="30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276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>
                <a:solidFill>
                  <a:srgbClr val="2563EB"/>
                </a:solidFill>
                <a:latin typeface="微软雅黑"/>
              </a:rPr>
              <a:t>【可体验成果】</a:t>
            </a:r>
            <a:endParaRPr sz="2200" b="1">
              <a:solidFill>
                <a:srgbClr val="2563EB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🔗 演示：运行 bin/ConfigWatcher 即可体验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🛠 GitHub 仓库：</a:t>
            </a:r>
            <a:r>
              <a:rPr lang="en-US" altLang="zh-CN" sz="2000" b="0">
                <a:solidFill>
                  <a:srgbClr val="323232"/>
                </a:solidFill>
                <a:latin typeface="微软雅黑"/>
              </a:rPr>
              <a:t>https://github.com/1zyp9999/configWatcher</a:t>
            </a:r>
            <a:endParaRPr lang="en-US" altLang="zh-CN"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📱 支持格式：INI / JSON / XML 配置文件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</a:p>
          <a:p>
            <a:pPr>
              <a:spcAft>
                <a:spcPts val="1200"/>
              </a:spcAft>
            </a:pPr>
            <a:r>
              <a:rPr sz="2200" b="1">
                <a:solidFill>
                  <a:srgbClr val="2563EB"/>
                </a:solidFill>
                <a:latin typeface="微软雅黑"/>
              </a:rPr>
              <a:t>【关键效果展示】</a:t>
            </a:r>
            <a:endParaRPr sz="2200" b="1">
              <a:solidFill>
                <a:srgbClr val="2563EB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• 意图识别 5 种类型：search_key / search_value / search_chinese / navigate / unknown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• 置信度可视化：实时显示 AI 分析置信度（0-100%）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323232"/>
                </a:solidFill>
                <a:latin typeface="微软雅黑"/>
              </a:rPr>
              <a:t>• • 搜索历史学习：记录高频搜索，智能调整建议权重</a:t>
            </a:r>
            <a:endParaRPr sz="20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800"/>
              </a:spcAft>
            </a:pPr>
            <a:endParaRPr sz="2000" b="0">
              <a:solidFill>
                <a:srgbClr val="323232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微软雅黑"/>
              </a:rPr>
              <a:t>4. 成果验证</a:t>
            </a:r>
            <a:endParaRPr sz="3000" b="1">
              <a:solidFill>
                <a:srgbClr val="FFFFFF"/>
              </a:solidFill>
              <a:latin typeface="微软雅黑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095" y="1176655"/>
            <a:ext cx="8609330" cy="542988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9831070" y="13754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ai</a:t>
            </a:r>
            <a:r>
              <a:rPr lang="zh-CN" altLang="en-US"/>
              <a:t>置信度增强搜索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微软雅黑"/>
              </a:rPr>
              <a:t>4. 成果验证</a:t>
            </a:r>
            <a:endParaRPr sz="3000" b="1">
              <a:solidFill>
                <a:srgbClr val="FFFFFF"/>
              </a:solidFill>
              <a:latin typeface="微软雅黑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2620" y="1390650"/>
            <a:ext cx="8062595" cy="508508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0212070" y="152273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搜索历史可视化</a:t>
            </a: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微软雅黑"/>
              </a:rPr>
              <a:t>4. 成果验证</a:t>
            </a:r>
            <a:endParaRPr sz="30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9257665" y="159766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联想功能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625" y="1597660"/>
            <a:ext cx="7706360" cy="48609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130" y="1699260"/>
            <a:ext cx="7533005" cy="475107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微软雅黑"/>
              </a:rPr>
              <a:t>4. 成果验证</a:t>
            </a:r>
            <a:endParaRPr sz="30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360160" y="17780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框内为精简模式</a:t>
            </a:r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2863215" y="1699260"/>
            <a:ext cx="3496945" cy="526415"/>
          </a:xfrm>
          <a:prstGeom prst="rect">
            <a:avLst/>
          </a:prstGeom>
          <a:noFill/>
          <a:ln w="38100"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accent1">
                        <a:tint val="100000"/>
                        <a:shade val="100000"/>
                        <a:satMod val="130000"/>
                      </a:schemeClr>
                    </a:gs>
                    <a:gs pos="100000">
                      <a:schemeClr val="accent1">
                        <a:tint val="50000"/>
                        <a:shade val="100000"/>
                        <a:satMod val="350000"/>
                      </a:schemeClr>
                    </a:gs>
                  </a:gsLst>
                  <a:lin ang="16200000" scaled="0"/>
                </a:gradFill>
              </a14:hiddenFill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微软雅黑"/>
              </a:rPr>
              <a:t>4. 成果验证</a:t>
            </a:r>
            <a:endParaRPr sz="3000" b="1">
              <a:solidFill>
                <a:srgbClr val="FFFFFF"/>
              </a:solidFill>
              <a:latin typeface="微软雅黑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825" y="1318260"/>
            <a:ext cx="5178425" cy="326644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2180" y="2915920"/>
            <a:ext cx="5823585" cy="367284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7279005" y="150495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修改记录监控</a:t>
            </a:r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微软雅黑"/>
              </a:rPr>
              <a:t>5. 总结与迭代</a:t>
            </a:r>
            <a:endParaRPr sz="30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63EB"/>
                </a:solidFill>
                <a:latin typeface="微软雅黑"/>
              </a:rPr>
              <a:t>【已实现功能】</a:t>
            </a:r>
            <a:endParaRPr sz="2400" b="1">
              <a:solidFill>
                <a:srgbClr val="2563EB"/>
              </a:solidFill>
              <a:latin typeface="微软雅黑"/>
            </a:endParaRP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23232"/>
                </a:solidFill>
                <a:latin typeface="微软雅黑"/>
              </a:rPr>
              <a:t>✓ 意图识别引擎：5 种意图类型 + 置信度评估</a:t>
            </a:r>
            <a:endParaRPr sz="19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23232"/>
                </a:solidFill>
                <a:latin typeface="微软雅黑"/>
              </a:rPr>
              <a:t>✓ 同义词词典：100+ 领域术语映射（相机/光学/标定/3D）</a:t>
            </a:r>
            <a:endParaRPr sz="19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23232"/>
                </a:solidFill>
                <a:latin typeface="微软雅黑"/>
              </a:rPr>
              <a:t>✓ 双模式 UI：完整模式 + 精简模式（全局快捷键切换）</a:t>
            </a:r>
            <a:endParaRPr sz="19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23232"/>
                </a:solidFill>
                <a:latin typeface="微软雅黑"/>
              </a:rPr>
              <a:t>✓ 多格式支持：INI / JSON / XML 配置文件解析</a:t>
            </a:r>
            <a:endParaRPr sz="19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23232"/>
                </a:solidFill>
                <a:latin typeface="微软雅黑"/>
              </a:rPr>
              <a:t>✓ 用户词典：支持自定义术语和搜索历史学习</a:t>
            </a:r>
            <a:endParaRPr sz="1900" b="0">
              <a:solidFill>
                <a:srgbClr val="323232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486400" cy="2727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63EB"/>
                </a:solidFill>
                <a:latin typeface="微软雅黑"/>
              </a:rPr>
              <a:t>【迭代计划 🚀】</a:t>
            </a:r>
            <a:endParaRPr sz="2400" b="1">
              <a:solidFill>
                <a:srgbClr val="2563EB"/>
              </a:solidFill>
              <a:latin typeface="微软雅黑"/>
            </a:endParaRP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23232"/>
                </a:solidFill>
                <a:latin typeface="微软雅黑"/>
              </a:rPr>
              <a:t>► 接入 LLM 大模型，实现更强大的自然语言理解</a:t>
            </a:r>
            <a:endParaRPr sz="19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23232"/>
                </a:solidFill>
                <a:latin typeface="微软雅黑"/>
              </a:rPr>
              <a:t>► 支持配置项智能推荐和异常检测</a:t>
            </a:r>
            <a:endParaRPr sz="19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23232"/>
                </a:solidFill>
                <a:latin typeface="微软雅黑"/>
              </a:rPr>
              <a:t>► 增加配置变更影响分析功能</a:t>
            </a:r>
            <a:endParaRPr sz="19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1000"/>
              </a:spcAft>
            </a:pPr>
            <a:r>
              <a:rPr sz="1900" b="0">
                <a:solidFill>
                  <a:srgbClr val="323232"/>
                </a:solidFill>
                <a:latin typeface="微软雅黑"/>
              </a:rPr>
              <a:t>► 扩展更多工业领域词典（PLC/机器人/传感器）</a:t>
            </a:r>
            <a:endParaRPr sz="1900" b="0">
              <a:solidFill>
                <a:srgbClr val="323232"/>
              </a:solidFill>
              <a:latin typeface="微软雅黑"/>
            </a:endParaRP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323232"/>
                </a:solidFill>
                <a:latin typeface="微软雅黑"/>
                <a:sym typeface="+mn-ea"/>
              </a:rPr>
              <a:t>► </a:t>
            </a:r>
            <a:r>
              <a:rPr lang="zh-CN" sz="1900">
                <a:solidFill>
                  <a:srgbClr val="323232"/>
                </a:solidFill>
                <a:latin typeface="微软雅黑"/>
                <a:sym typeface="+mn-ea"/>
              </a:rPr>
              <a:t>联网咨询，如果有某些字段不确定，可以通过联网提供询问，其他人实时回答</a:t>
            </a:r>
            <a:endParaRPr lang="zh-CN" sz="1900" b="0">
              <a:solidFill>
                <a:srgbClr val="323232"/>
              </a:solidFill>
              <a:latin typeface="微软雅黑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0972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微软雅黑"/>
              </a:rPr>
              <a:t>感谢聆听！</a:t>
            </a:r>
            <a:endParaRPr sz="4800" b="1">
              <a:solidFill>
                <a:srgbClr val="FFFFFF"/>
              </a:solidFill>
              <a:latin typeface="微软雅黑"/>
            </a:endParaRPr>
          </a:p>
          <a:p>
            <a:pPr algn="ctr"/>
            <a:r>
              <a:rPr sz="3600" b="0">
                <a:solidFill>
                  <a:srgbClr val="FFFFFF"/>
                </a:solidFill>
                <a:latin typeface="微软雅黑"/>
              </a:rPr>
              <a:t>Q &amp; A</a:t>
            </a:r>
            <a:endParaRPr sz="3600" b="0">
              <a:solidFill>
                <a:srgbClr val="FFFFFF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1545</Words>
  <Application>WPS 演示</Application>
  <PresentationFormat>On-screen Show (4:3)</PresentationFormat>
  <Paragraphs>118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4" baseType="lpstr">
      <vt:lpstr>Arial</vt:lpstr>
      <vt:lpstr>宋体</vt:lpstr>
      <vt:lpstr>Wingdings</vt:lpstr>
      <vt:lpstr>Arial</vt:lpstr>
      <vt:lpstr>DejaVu Sans</vt:lpstr>
      <vt:lpstr>微软雅黑</vt:lpstr>
      <vt:lpstr>文泉驿微米黑</vt:lpstr>
      <vt:lpstr>Calibri</vt:lpstr>
      <vt:lpstr>微软雅黑</vt:lpstr>
      <vt:lpstr>Arial Unicode MS</vt:lpstr>
      <vt:lpstr>Noto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JeniHi</cp:lastModifiedBy>
  <cp:revision>3</cp:revision>
  <dcterms:created xsi:type="dcterms:W3CDTF">2026-03-03T02:33:48Z</dcterms:created>
  <dcterms:modified xsi:type="dcterms:W3CDTF">2026-03-03T02:33:48Z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52039047F452BE8F5843A66939336468_42</vt:lpwstr>
  </property>
  <property fmtid="{D5CDD505-2E9C-101B-9397-08002B2CF9AE}" pid="3" name="KSOProductBuildVer">
    <vt:lpwstr>2052-12.1.2.23578</vt:lpwstr>
  </property>
</Properties>
</file>